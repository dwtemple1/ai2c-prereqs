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Lst>
  <p:sldSz cy="5143500" cx="9144000"/>
  <p:notesSz cx="6858000" cy="9144000"/>
  <p:embeddedFontLst>
    <p:embeddedFont>
      <p:font typeface="Proxima Nova"/>
      <p:regular r:id="rId9"/>
      <p:bold r:id="rId10"/>
      <p:italic r:id="rId11"/>
      <p:boldItalic r:id="rId1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1" Type="http://schemas.openxmlformats.org/officeDocument/2006/relationships/font" Target="fonts/ProximaNova-italic.fntdata"/><Relationship Id="rId10" Type="http://schemas.openxmlformats.org/officeDocument/2006/relationships/font" Target="fonts/ProximaNova-bold.fntdata"/><Relationship Id="rId12" Type="http://schemas.openxmlformats.org/officeDocument/2006/relationships/font" Target="fonts/ProximaNova-boldItalic.fntdata"/><Relationship Id="rId9" Type="http://schemas.openxmlformats.org/officeDocument/2006/relationships/font" Target="fonts/ProximaNova-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737ac35431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737ac35431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3737ac35431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3737ac35431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1" name="Google Shape;11;p2"/>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2" name="Google Shape;12;p2"/>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cxnSp>
        <p:nvCxnSpPr>
          <p:cNvPr id="15" name="Google Shape;15;p3"/>
          <p:cNvCxnSpPr/>
          <p:nvPr/>
        </p:nvCxnSpPr>
        <p:spPr>
          <a:xfrm>
            <a:off x="0" y="2998150"/>
            <a:ext cx="9144000" cy="0"/>
          </a:xfrm>
          <a:prstGeom prst="straightConnector1">
            <a:avLst/>
          </a:prstGeom>
          <a:noFill/>
          <a:ln cap="flat" cmpd="sng" w="19050">
            <a:solidFill>
              <a:schemeClr val="lt2"/>
            </a:solidFill>
            <a:prstDash val="solid"/>
            <a:round/>
            <a:headEnd len="sm" w="sm" type="none"/>
            <a:tailEnd len="sm" w="sm" type="none"/>
          </a:ln>
        </p:spPr>
      </p:cxnSp>
      <p:sp>
        <p:nvSpPr>
          <p:cNvPr id="16" name="Google Shape;16;p3"/>
          <p:cNvSpPr txBox="1"/>
          <p:nvPr>
            <p:ph type="title"/>
          </p:nvPr>
        </p:nvSpPr>
        <p:spPr>
          <a:xfrm>
            <a:off x="510450" y="2057400"/>
            <a:ext cx="8123100" cy="778800"/>
          </a:xfrm>
          <a:prstGeom prst="rect">
            <a:avLst/>
          </a:prstGeom>
        </p:spPr>
        <p:txBody>
          <a:bodyPr anchorCtr="0" anchor="b"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1" name="Google Shape;21;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2" name="Google Shape;22;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3" name="Shape 23"/>
        <p:cNvGrpSpPr/>
        <p:nvPr/>
      </p:nvGrpSpPr>
      <p:grpSpPr>
        <a:xfrm>
          <a:off x="0" y="0"/>
          <a:ext cx="0" cy="0"/>
          <a:chOff x="0" y="0"/>
          <a:chExt cx="0" cy="0"/>
        </a:xfrm>
      </p:grpSpPr>
      <p:sp>
        <p:nvSpPr>
          <p:cNvPr id="24" name="Google Shape;24;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5" name="Google Shape;25;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6" name="Google Shape;26;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7" name="Google Shape;27;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8" name="Shape 28"/>
        <p:cNvGrpSpPr/>
        <p:nvPr/>
      </p:nvGrpSpPr>
      <p:grpSpPr>
        <a:xfrm>
          <a:off x="0" y="0"/>
          <a:ext cx="0" cy="0"/>
          <a:chOff x="0" y="0"/>
          <a:chExt cx="0" cy="0"/>
        </a:xfrm>
      </p:grpSpPr>
      <p:sp>
        <p:nvSpPr>
          <p:cNvPr id="29" name="Google Shape;29;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 name="Google Shape;30;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1" name="Shape 31"/>
        <p:cNvGrpSpPr/>
        <p:nvPr/>
      </p:nvGrpSpPr>
      <p:grpSpPr>
        <a:xfrm>
          <a:off x="0" y="0"/>
          <a:ext cx="0" cy="0"/>
          <a:chOff x="0" y="0"/>
          <a:chExt cx="0" cy="0"/>
        </a:xfrm>
      </p:grpSpPr>
      <p:sp>
        <p:nvSpPr>
          <p:cNvPr id="32" name="Google Shape;32;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3" name="Google Shape;33;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5" name="Shape 35"/>
        <p:cNvGrpSpPr/>
        <p:nvPr/>
      </p:nvGrpSpPr>
      <p:grpSpPr>
        <a:xfrm>
          <a:off x="0" y="0"/>
          <a:ext cx="0" cy="0"/>
          <a:chOff x="0" y="0"/>
          <a:chExt cx="0" cy="0"/>
        </a:xfrm>
      </p:grpSpPr>
      <p:sp>
        <p:nvSpPr>
          <p:cNvPr id="36" name="Google Shape;36;p8"/>
          <p:cNvSpPr txBox="1"/>
          <p:nvPr>
            <p:ph type="title"/>
          </p:nvPr>
        </p:nvSpPr>
        <p:spPr>
          <a:xfrm>
            <a:off x="490250" y="526350"/>
            <a:ext cx="57975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7" name="Google Shape;37;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8" name="Shape 38"/>
        <p:cNvGrpSpPr/>
        <p:nvPr/>
      </p:nvGrpSpPr>
      <p:grpSpPr>
        <a:xfrm>
          <a:off x="0" y="0"/>
          <a:ext cx="0" cy="0"/>
          <a:chOff x="0" y="0"/>
          <a:chExt cx="0" cy="0"/>
        </a:xfrm>
      </p:grpSpPr>
      <p:sp>
        <p:nvSpPr>
          <p:cNvPr id="39" name="Google Shape;39;p9"/>
          <p:cNvSpPr/>
          <p:nvPr/>
        </p:nvSpPr>
        <p:spPr>
          <a:xfrm>
            <a:off x="4572000" y="7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0" name="Google Shape;40;p9"/>
          <p:cNvCxnSpPr/>
          <p:nvPr/>
        </p:nvCxnSpPr>
        <p:spPr>
          <a:xfrm>
            <a:off x="5029675" y="4495500"/>
            <a:ext cx="468300" cy="0"/>
          </a:xfrm>
          <a:prstGeom prst="straightConnector1">
            <a:avLst/>
          </a:prstGeom>
          <a:noFill/>
          <a:ln cap="flat" cmpd="sng" w="19050">
            <a:solidFill>
              <a:schemeClr val="lt2"/>
            </a:solidFill>
            <a:prstDash val="solid"/>
            <a:round/>
            <a:headEnd len="sm" w="sm" type="none"/>
            <a:tailEnd len="sm" w="sm" type="none"/>
          </a:ln>
        </p:spPr>
      </p:cxnSp>
      <p:sp>
        <p:nvSpPr>
          <p:cNvPr id="41" name="Google Shape;41;p9"/>
          <p:cNvSpPr txBox="1"/>
          <p:nvPr>
            <p:ph type="title"/>
          </p:nvPr>
        </p:nvSpPr>
        <p:spPr>
          <a:xfrm>
            <a:off x="265500" y="1205825"/>
            <a:ext cx="4045200" cy="15096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2" name="Google Shape;42;p9"/>
          <p:cNvSpPr txBox="1"/>
          <p:nvPr>
            <p:ph idx="1" type="subTitle"/>
          </p:nvPr>
        </p:nvSpPr>
        <p:spPr>
          <a:xfrm>
            <a:off x="265500" y="276900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44" name="Google Shape;44;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0"/>
          <p:cNvSpPr txBox="1"/>
          <p:nvPr>
            <p:ph idx="1" type="body"/>
          </p:nvPr>
        </p:nvSpPr>
        <p:spPr>
          <a:xfrm>
            <a:off x="311700" y="423682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2100"/>
              <a:buNone/>
              <a:defRPr sz="2100"/>
            </a:lvl1pPr>
          </a:lstStyle>
          <a:p/>
        </p:txBody>
      </p:sp>
      <p:sp>
        <p:nvSpPr>
          <p:cNvPr id="47" name="Google Shape;47;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1"/>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11"/>
          <p:cNvSpPr txBox="1"/>
          <p:nvPr>
            <p:ph hasCustomPrompt="1" type="title"/>
          </p:nvPr>
        </p:nvSpPr>
        <p:spPr>
          <a:xfrm>
            <a:off x="311700" y="991475"/>
            <a:ext cx="8520600" cy="19179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14000"/>
              <a:buNone/>
              <a:defRPr b="1" sz="14000"/>
            </a:lvl1pPr>
            <a:lvl2pPr lvl="1" algn="ctr">
              <a:spcBef>
                <a:spcPts val="0"/>
              </a:spcBef>
              <a:spcAft>
                <a:spcPts val="0"/>
              </a:spcAft>
              <a:buSzPts val="14000"/>
              <a:buNone/>
              <a:defRPr b="1" sz="14000"/>
            </a:lvl2pPr>
            <a:lvl3pPr lvl="2" algn="ctr">
              <a:spcBef>
                <a:spcPts val="0"/>
              </a:spcBef>
              <a:spcAft>
                <a:spcPts val="0"/>
              </a:spcAft>
              <a:buSzPts val="14000"/>
              <a:buNone/>
              <a:defRPr b="1" sz="14000"/>
            </a:lvl3pPr>
            <a:lvl4pPr lvl="3" algn="ctr">
              <a:spcBef>
                <a:spcPts val="0"/>
              </a:spcBef>
              <a:spcAft>
                <a:spcPts val="0"/>
              </a:spcAft>
              <a:buSzPts val="14000"/>
              <a:buNone/>
              <a:defRPr b="1" sz="14000"/>
            </a:lvl4pPr>
            <a:lvl5pPr lvl="4" algn="ctr">
              <a:spcBef>
                <a:spcPts val="0"/>
              </a:spcBef>
              <a:spcAft>
                <a:spcPts val="0"/>
              </a:spcAft>
              <a:buSzPts val="14000"/>
              <a:buNone/>
              <a:defRPr b="1" sz="14000"/>
            </a:lvl5pPr>
            <a:lvl6pPr lvl="5" algn="ctr">
              <a:spcBef>
                <a:spcPts val="0"/>
              </a:spcBef>
              <a:spcAft>
                <a:spcPts val="0"/>
              </a:spcAft>
              <a:buSzPts val="14000"/>
              <a:buNone/>
              <a:defRPr b="1" sz="14000"/>
            </a:lvl6pPr>
            <a:lvl7pPr lvl="6" algn="ctr">
              <a:spcBef>
                <a:spcPts val="0"/>
              </a:spcBef>
              <a:spcAft>
                <a:spcPts val="0"/>
              </a:spcAft>
              <a:buSzPts val="14000"/>
              <a:buNone/>
              <a:defRPr b="1" sz="14000"/>
            </a:lvl7pPr>
            <a:lvl8pPr lvl="7" algn="ctr">
              <a:spcBef>
                <a:spcPts val="0"/>
              </a:spcBef>
              <a:spcAft>
                <a:spcPts val="0"/>
              </a:spcAft>
              <a:buSzPts val="14000"/>
              <a:buNone/>
              <a:defRPr b="1" sz="14000"/>
            </a:lvl8pPr>
            <a:lvl9pPr lvl="8" algn="ctr">
              <a:spcBef>
                <a:spcPts val="0"/>
              </a:spcBef>
              <a:spcAft>
                <a:spcPts val="0"/>
              </a:spcAft>
              <a:buSzPts val="14000"/>
              <a:buNone/>
              <a:defRPr b="1" sz="14000"/>
            </a:lvl9pPr>
          </a:lstStyle>
          <a:p>
            <a:r>
              <a:t>xx%</a:t>
            </a:r>
          </a:p>
        </p:txBody>
      </p:sp>
      <p:sp>
        <p:nvSpPr>
          <p:cNvPr id="51" name="Google Shape;51;p11"/>
          <p:cNvSpPr txBox="1"/>
          <p:nvPr>
            <p:ph idx="1" type="body"/>
          </p:nvPr>
        </p:nvSpPr>
        <p:spPr>
          <a:xfrm>
            <a:off x="311700" y="3071300"/>
            <a:ext cx="8520600" cy="901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2" name="Google Shape;52;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pearmint">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indent="-317500" lvl="1" marL="914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indent="-317500" lvl="2" marL="1371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indent="-317500" lvl="3" marL="1828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indent="-317500" lvl="4" marL="22860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indent="-317500" lvl="5" marL="27432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indent="-317500" lvl="6" marL="32004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indent="-317500" lvl="7" marL="36576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indent="-317500" lvl="8" marL="41148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510450" y="1257300"/>
            <a:ext cx="8123100" cy="15885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
              <a:t>Cohort 6 Small Project</a:t>
            </a:r>
            <a:endParaRPr/>
          </a:p>
        </p:txBody>
      </p:sp>
      <p:sp>
        <p:nvSpPr>
          <p:cNvPr id="60" name="Google Shape;60;p13"/>
          <p:cNvSpPr txBox="1"/>
          <p:nvPr>
            <p:ph idx="1" type="subTitle"/>
          </p:nvPr>
        </p:nvSpPr>
        <p:spPr>
          <a:xfrm>
            <a:off x="510450" y="3182313"/>
            <a:ext cx="8123100" cy="630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URGENT — Incoming Message</a:t>
            </a:r>
            <a:endParaRPr/>
          </a:p>
        </p:txBody>
      </p:sp>
      <p:sp>
        <p:nvSpPr>
          <p:cNvPr id="66" name="Google Shape;66;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40000" lnSpcReduction="10000"/>
          </a:bodyPr>
          <a:lstStyle/>
          <a:p>
            <a:pPr indent="0" lvl="0" marL="0" rtl="0" algn="l">
              <a:spcBef>
                <a:spcPts val="0"/>
              </a:spcBef>
              <a:spcAft>
                <a:spcPts val="0"/>
              </a:spcAft>
              <a:buNone/>
            </a:pPr>
            <a:r>
              <a:rPr lang="en" sz="4600"/>
              <a:t>🧭 Mission Briefing: Mars Colonist Systems — Mission Control Online</a:t>
            </a:r>
            <a:endParaRPr sz="4600"/>
          </a:p>
          <a:p>
            <a:pPr indent="0" lvl="0" marL="0" rtl="0" algn="l">
              <a:spcBef>
                <a:spcPts val="1200"/>
              </a:spcBef>
              <a:spcAft>
                <a:spcPts val="0"/>
              </a:spcAft>
              <a:buNone/>
            </a:pPr>
            <a:r>
              <a:rPr lang="en" sz="4600"/>
              <a:t>Transmission Received: 07:41 MST / Sol 147</a:t>
            </a:r>
            <a:endParaRPr sz="4600"/>
          </a:p>
          <a:p>
            <a:pPr indent="0" lvl="0" marL="0" rtl="0" algn="l">
              <a:spcBef>
                <a:spcPts val="1200"/>
              </a:spcBef>
              <a:spcAft>
                <a:spcPts val="0"/>
              </a:spcAft>
              <a:buNone/>
            </a:pPr>
            <a:r>
              <a:rPr lang="en" sz="4600"/>
              <a:t>Source: Central Mars Orbital Relay</a:t>
            </a:r>
            <a:endParaRPr sz="4600"/>
          </a:p>
          <a:p>
            <a:pPr indent="0" lvl="0" marL="0" rtl="0" algn="l">
              <a:spcBef>
                <a:spcPts val="1200"/>
              </a:spcBef>
              <a:spcAft>
                <a:spcPts val="0"/>
              </a:spcAft>
              <a:buNone/>
            </a:pPr>
            <a:r>
              <a:rPr lang="en" sz="4600"/>
              <a:t>To: Chief Engineer [TEAM: Nova Six]</a:t>
            </a:r>
            <a:endParaRPr sz="4600"/>
          </a:p>
          <a:p>
            <a:pPr indent="0" lvl="0" marL="0" rtl="0" algn="l">
              <a:spcBef>
                <a:spcPts val="1200"/>
              </a:spcBef>
              <a:spcAft>
                <a:spcPts val="0"/>
              </a:spcAft>
              <a:buNone/>
            </a:pPr>
            <a:r>
              <a:rPr lang="en" sz="4600"/>
              <a:t>Priority: ALPHA — System Restore Protocol</a:t>
            </a:r>
            <a:endParaRPr sz="4600"/>
          </a:p>
          <a:p>
            <a:pPr indent="0" lvl="0" marL="0" rtl="0" algn="l">
              <a:spcBef>
                <a:spcPts val="1200"/>
              </a:spcBef>
              <a:spcAft>
                <a:spcPts val="0"/>
              </a:spcAft>
              <a:buNone/>
            </a:pPr>
            <a:r>
              <a:rPr lang="en" sz="4600"/>
              <a:t>Commander Goulding – Mars Base One Operations Chief</a:t>
            </a:r>
            <a:endParaRPr sz="4600"/>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idx="1" type="body"/>
          </p:nvPr>
        </p:nvSpPr>
        <p:spPr>
          <a:xfrm>
            <a:off x="44275" y="-95925"/>
            <a:ext cx="8966100" cy="4966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358"/>
              <a:buNone/>
            </a:pPr>
            <a:r>
              <a:rPr b="1" lang="en" sz="1147"/>
              <a:t>“</a:t>
            </a:r>
            <a:r>
              <a:rPr b="1" lang="en" sz="1277"/>
              <a:t>Chief Engineer — you're receiving this message because you ranked top in systems diagnostics during pre-deployment training. We need that expertise now. Three sols ago, an unexpected solar flare—classified X9.3—hit the upper atmosphere, causing a cascading failure in Base One’s remote operations stack. Our telemetry systems, environmental monitors, and autonomous rover schedulers all went dark.</a:t>
            </a:r>
            <a:endParaRPr b="1" sz="1277"/>
          </a:p>
          <a:p>
            <a:pPr indent="0" lvl="0" marL="0" rtl="0" algn="l">
              <a:spcBef>
                <a:spcPts val="1200"/>
              </a:spcBef>
              <a:spcAft>
                <a:spcPts val="0"/>
              </a:spcAft>
              <a:buSzPts val="358"/>
              <a:buNone/>
            </a:pPr>
            <a:r>
              <a:rPr b="1" lang="en" sz="1277"/>
              <a:t>We’ve managed to bring emergency power online, but mission control remains offline. We have less than 72 hours before the incoming resupply and colonist wave lands. If core systems aren’t restored, we can expect to lose all 1000 people on board.Your assignment is clear: gain remote access of Mission Control (log in to the VM), solve telemetry systems issues (Python Problem 1),  recalculate food resources (Python Problem 2), launch the emergency comms rocket (Python Problem 3), and share your solutions with  (pull request).  Lastly, you will need to create a broadcast beacon to Earth, to re-establish comms and signal that all is under control (create a website through your own VM).</a:t>
            </a:r>
            <a:endParaRPr b="1" sz="1277"/>
          </a:p>
          <a:p>
            <a:pPr indent="0" lvl="0" marL="0" rtl="0" algn="l">
              <a:spcBef>
                <a:spcPts val="1200"/>
              </a:spcBef>
              <a:spcAft>
                <a:spcPts val="0"/>
              </a:spcAft>
              <a:buSzPts val="358"/>
              <a:buNone/>
            </a:pPr>
            <a:r>
              <a:rPr b="1" lang="en" sz="1277"/>
              <a:t>To begin, you need to gain access to mission control.  Locally, you should be able to ssh into Mission Control at 172.174.209.144.  The username we were using before the solar flare hit was Cohort6.  I forget part of the password though.  The part I remember is Cohort6_AI2C_[PART MISSING]</a:t>
            </a:r>
            <a:endParaRPr b="1" sz="1277"/>
          </a:p>
          <a:p>
            <a:pPr indent="0" lvl="0" marL="0" rtl="0" algn="l">
              <a:spcBef>
                <a:spcPts val="1200"/>
              </a:spcBef>
              <a:spcAft>
                <a:spcPts val="0"/>
              </a:spcAft>
              <a:buSzPts val="358"/>
              <a:buNone/>
            </a:pPr>
            <a:r>
              <a:rPr b="1" lang="en" sz="1277"/>
              <a:t>To find the last part of the password, you must use your Python expertise to find the total number of medals the United States won in the Olympics in your all_olympic_medalists.csv file that you have stored locally.  To be clear,if you find that the United States won 100 medals, the password would be Cohort6_AI2C_100</a:t>
            </a:r>
            <a:endParaRPr b="1" sz="1277"/>
          </a:p>
          <a:p>
            <a:pPr indent="0" lvl="0" marL="0" rtl="0" algn="l">
              <a:spcBef>
                <a:spcPts val="1200"/>
              </a:spcBef>
              <a:spcAft>
                <a:spcPts val="0"/>
              </a:spcAft>
              <a:buSzPts val="358"/>
              <a:buNone/>
            </a:pPr>
            <a:r>
              <a:rPr b="1" lang="en" sz="1277"/>
              <a:t>Good luck.  There are lives at stake!"</a:t>
            </a:r>
            <a:endParaRPr b="1" sz="1277"/>
          </a:p>
          <a:p>
            <a:pPr indent="0" lvl="0" marL="0" rtl="0" algn="l">
              <a:spcBef>
                <a:spcPts val="1200"/>
              </a:spcBef>
              <a:spcAft>
                <a:spcPts val="0"/>
              </a:spcAft>
              <a:buSzPts val="358"/>
              <a:buNone/>
            </a:pPr>
            <a:r>
              <a:rPr b="1" lang="en" sz="1277"/>
              <a:t>-Commander Goulding</a:t>
            </a:r>
            <a:endParaRPr b="1" sz="1277"/>
          </a:p>
          <a:p>
            <a:pPr indent="0" lvl="0" marL="0" rtl="0" algn="l">
              <a:spcBef>
                <a:spcPts val="1200"/>
              </a:spcBef>
              <a:spcAft>
                <a:spcPts val="1200"/>
              </a:spcAft>
              <a:buSzPts val="358"/>
              <a:buNone/>
            </a:pPr>
            <a:r>
              <a:t/>
            </a:r>
            <a:endParaRPr sz="685"/>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FF5252"/>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